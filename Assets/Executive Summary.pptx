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orben" charset="1" panose="020F0503020000020004"/>
      <p:regular r:id="rId18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Open Sauce SemiBold Bold" charset="1" panose="00000A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17.png" Type="http://schemas.openxmlformats.org/officeDocument/2006/relationships/image"/><Relationship Id="rId7" Target="../media/image5.png" Type="http://schemas.openxmlformats.org/officeDocument/2006/relationships/image"/><Relationship Id="rId8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808559"/>
            <a:ext cx="9445523" cy="2686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Strategic Network Architecture Design for Global Banking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827537"/>
            <a:ext cx="9445523" cy="1436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A Defense-in-Depth Approach to Multinational Financial Security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7118899"/>
            <a:ext cx="9445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Presented by: Jeremiah Dighomanor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7891463"/>
            <a:ext cx="9445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Developers Foundry Fellow 2.0 (Cybersecurity Track)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499287" y="521970"/>
            <a:ext cx="1238724" cy="637777"/>
          </a:xfrm>
          <a:custGeom>
            <a:avLst/>
            <a:gdLst/>
            <a:ahLst/>
            <a:cxnLst/>
            <a:rect r="r" b="b" t="t" l="l"/>
            <a:pathLst>
              <a:path h="637777" w="1238724">
                <a:moveTo>
                  <a:pt x="0" y="0"/>
                </a:moveTo>
                <a:lnTo>
                  <a:pt x="1238725" y="0"/>
                </a:lnTo>
                <a:lnTo>
                  <a:pt x="1238725" y="637777"/>
                </a:lnTo>
                <a:lnTo>
                  <a:pt x="0" y="6377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47241" y="521970"/>
            <a:ext cx="1988339" cy="357901"/>
          </a:xfrm>
          <a:custGeom>
            <a:avLst/>
            <a:gdLst/>
            <a:ahLst/>
            <a:cxnLst/>
            <a:rect r="r" b="b" t="t" l="l"/>
            <a:pathLst>
              <a:path h="357901" w="1988339">
                <a:moveTo>
                  <a:pt x="0" y="0"/>
                </a:moveTo>
                <a:lnTo>
                  <a:pt x="1988339" y="0"/>
                </a:lnTo>
                <a:lnTo>
                  <a:pt x="1988339" y="357901"/>
                </a:lnTo>
                <a:lnTo>
                  <a:pt x="0" y="3579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083146"/>
            <a:ext cx="12144223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Design Philosophy &amp; Core Principles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3188" y="3545681"/>
            <a:ext cx="8048034" cy="2201618"/>
            <a:chOff x="0" y="0"/>
            <a:chExt cx="10730713" cy="29354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10679938" cy="2884678"/>
            </a:xfrm>
            <a:custGeom>
              <a:avLst/>
              <a:gdLst/>
              <a:ahLst/>
              <a:cxnLst/>
              <a:rect r="r" b="b" t="t" l="l"/>
              <a:pathLst>
                <a:path h="2884678" w="10679938">
                  <a:moveTo>
                    <a:pt x="0" y="243840"/>
                  </a:moveTo>
                  <a:cubicBezTo>
                    <a:pt x="0" y="109220"/>
                    <a:pt x="110617" y="0"/>
                    <a:pt x="247015" y="0"/>
                  </a:cubicBezTo>
                  <a:lnTo>
                    <a:pt x="10432923" y="0"/>
                  </a:lnTo>
                  <a:cubicBezTo>
                    <a:pt x="10569321" y="0"/>
                    <a:pt x="10679938" y="109220"/>
                    <a:pt x="10679938" y="243840"/>
                  </a:cubicBezTo>
                  <a:lnTo>
                    <a:pt x="10679938" y="2640838"/>
                  </a:lnTo>
                  <a:cubicBezTo>
                    <a:pt x="10679938" y="2775458"/>
                    <a:pt x="10569321" y="2884678"/>
                    <a:pt x="10432923" y="2884678"/>
                  </a:cubicBezTo>
                  <a:lnTo>
                    <a:pt x="247015" y="2884678"/>
                  </a:lnTo>
                  <a:cubicBezTo>
                    <a:pt x="110617" y="2884678"/>
                    <a:pt x="0" y="2775458"/>
                    <a:pt x="0" y="2640838"/>
                  </a:cubicBez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30738" cy="2935478"/>
            </a:xfrm>
            <a:custGeom>
              <a:avLst/>
              <a:gdLst/>
              <a:ahLst/>
              <a:cxnLst/>
              <a:rect r="r" b="b" t="t" l="l"/>
              <a:pathLst>
                <a:path h="2935478" w="10730738">
                  <a:moveTo>
                    <a:pt x="0" y="269240"/>
                  </a:moveTo>
                  <a:cubicBezTo>
                    <a:pt x="0" y="120269"/>
                    <a:pt x="122301" y="0"/>
                    <a:pt x="272415" y="0"/>
                  </a:cubicBezTo>
                  <a:lnTo>
                    <a:pt x="10458323" y="0"/>
                  </a:lnTo>
                  <a:lnTo>
                    <a:pt x="10458323" y="25400"/>
                  </a:lnTo>
                  <a:lnTo>
                    <a:pt x="10458323" y="0"/>
                  </a:lnTo>
                  <a:cubicBezTo>
                    <a:pt x="10608437" y="0"/>
                    <a:pt x="10730738" y="120269"/>
                    <a:pt x="10730738" y="269240"/>
                  </a:cubicBezTo>
                  <a:lnTo>
                    <a:pt x="10705338" y="269240"/>
                  </a:lnTo>
                  <a:lnTo>
                    <a:pt x="10730738" y="269240"/>
                  </a:lnTo>
                  <a:lnTo>
                    <a:pt x="10730738" y="2666238"/>
                  </a:lnTo>
                  <a:lnTo>
                    <a:pt x="10705338" y="2666238"/>
                  </a:lnTo>
                  <a:lnTo>
                    <a:pt x="10730738" y="2666238"/>
                  </a:lnTo>
                  <a:cubicBezTo>
                    <a:pt x="10730738" y="2815209"/>
                    <a:pt x="10608437" y="2935478"/>
                    <a:pt x="10458323" y="2935478"/>
                  </a:cubicBezTo>
                  <a:lnTo>
                    <a:pt x="10458323" y="2910078"/>
                  </a:lnTo>
                  <a:lnTo>
                    <a:pt x="10458323" y="2935478"/>
                  </a:lnTo>
                  <a:lnTo>
                    <a:pt x="272415" y="2935478"/>
                  </a:lnTo>
                  <a:lnTo>
                    <a:pt x="272415" y="2910078"/>
                  </a:lnTo>
                  <a:lnTo>
                    <a:pt x="272415" y="2935478"/>
                  </a:lnTo>
                  <a:cubicBezTo>
                    <a:pt x="122301" y="2935478"/>
                    <a:pt x="0" y="2815209"/>
                    <a:pt x="0" y="26662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66238"/>
                  </a:lnTo>
                  <a:lnTo>
                    <a:pt x="25400" y="2666238"/>
                  </a:lnTo>
                  <a:lnTo>
                    <a:pt x="50800" y="2666238"/>
                  </a:lnTo>
                  <a:cubicBezTo>
                    <a:pt x="50800" y="2786634"/>
                    <a:pt x="149733" y="2884678"/>
                    <a:pt x="272415" y="2884678"/>
                  </a:cubicBezTo>
                  <a:lnTo>
                    <a:pt x="10458323" y="2884678"/>
                  </a:lnTo>
                  <a:cubicBezTo>
                    <a:pt x="10581005" y="2884678"/>
                    <a:pt x="10679938" y="2786634"/>
                    <a:pt x="10679938" y="2666238"/>
                  </a:cubicBezTo>
                  <a:lnTo>
                    <a:pt x="10679938" y="269240"/>
                  </a:lnTo>
                  <a:cubicBezTo>
                    <a:pt x="10679938" y="148844"/>
                    <a:pt x="10581005" y="50800"/>
                    <a:pt x="10458323" y="50800"/>
                  </a:cubicBezTo>
                  <a:lnTo>
                    <a:pt x="272415" y="50800"/>
                  </a:lnTo>
                  <a:lnTo>
                    <a:pt x="272415" y="25400"/>
                  </a:lnTo>
                  <a:lnTo>
                    <a:pt x="272415" y="50800"/>
                  </a:lnTo>
                  <a:cubicBezTo>
                    <a:pt x="149733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B8BFD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4138" y="3564731"/>
            <a:ext cx="152400" cy="2163518"/>
            <a:chOff x="0" y="0"/>
            <a:chExt cx="203200" cy="28846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200" cy="2884678"/>
            </a:xfrm>
            <a:custGeom>
              <a:avLst/>
              <a:gdLst/>
              <a:ahLst/>
              <a:cxnLst/>
              <a:rect r="r" b="b" t="t" l="l"/>
              <a:pathLst>
                <a:path h="2884678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783078"/>
                  </a:lnTo>
                  <a:cubicBezTo>
                    <a:pt x="203200" y="2839212"/>
                    <a:pt x="157734" y="2884678"/>
                    <a:pt x="101600" y="2884678"/>
                  </a:cubicBezTo>
                  <a:cubicBezTo>
                    <a:pt x="45466" y="2884678"/>
                    <a:pt x="0" y="2839212"/>
                    <a:pt x="0" y="2783078"/>
                  </a:cubicBezTo>
                  <a:close/>
                </a:path>
              </a:pathLst>
            </a:custGeom>
            <a:solidFill>
              <a:srgbClr val="4967E9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28159" y="3876827"/>
            <a:ext cx="3870274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Zero Trust Architecture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159" y="4394597"/>
            <a:ext cx="7252392" cy="43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Never trust, always verify, even for internal traffic.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66634" y="3545681"/>
            <a:ext cx="8048177" cy="2201618"/>
            <a:chOff x="0" y="0"/>
            <a:chExt cx="10730903" cy="29354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25400"/>
              <a:ext cx="10680192" cy="2884678"/>
            </a:xfrm>
            <a:custGeom>
              <a:avLst/>
              <a:gdLst/>
              <a:ahLst/>
              <a:cxnLst/>
              <a:rect r="r" b="b" t="t" l="l"/>
              <a:pathLst>
                <a:path h="2884678" w="10680192">
                  <a:moveTo>
                    <a:pt x="0" y="243840"/>
                  </a:moveTo>
                  <a:cubicBezTo>
                    <a:pt x="0" y="109220"/>
                    <a:pt x="110617" y="0"/>
                    <a:pt x="247015" y="0"/>
                  </a:cubicBezTo>
                  <a:lnTo>
                    <a:pt x="10433177" y="0"/>
                  </a:lnTo>
                  <a:cubicBezTo>
                    <a:pt x="10569575" y="0"/>
                    <a:pt x="10680192" y="109220"/>
                    <a:pt x="10680192" y="243840"/>
                  </a:cubicBezTo>
                  <a:lnTo>
                    <a:pt x="10680192" y="2640838"/>
                  </a:lnTo>
                  <a:cubicBezTo>
                    <a:pt x="10680192" y="2775458"/>
                    <a:pt x="10569575" y="2884678"/>
                    <a:pt x="10433177" y="2884678"/>
                  </a:cubicBezTo>
                  <a:lnTo>
                    <a:pt x="247015" y="2884678"/>
                  </a:lnTo>
                  <a:cubicBezTo>
                    <a:pt x="110617" y="2884678"/>
                    <a:pt x="0" y="2775458"/>
                    <a:pt x="0" y="2640838"/>
                  </a:cubicBez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30992" cy="2935478"/>
            </a:xfrm>
            <a:custGeom>
              <a:avLst/>
              <a:gdLst/>
              <a:ahLst/>
              <a:cxnLst/>
              <a:rect r="r" b="b" t="t" l="l"/>
              <a:pathLst>
                <a:path h="2935478" w="10730992">
                  <a:moveTo>
                    <a:pt x="0" y="269240"/>
                  </a:moveTo>
                  <a:cubicBezTo>
                    <a:pt x="0" y="120269"/>
                    <a:pt x="122301" y="0"/>
                    <a:pt x="272415" y="0"/>
                  </a:cubicBezTo>
                  <a:lnTo>
                    <a:pt x="10458577" y="0"/>
                  </a:lnTo>
                  <a:lnTo>
                    <a:pt x="10458577" y="25400"/>
                  </a:lnTo>
                  <a:lnTo>
                    <a:pt x="10458577" y="0"/>
                  </a:lnTo>
                  <a:cubicBezTo>
                    <a:pt x="10608691" y="0"/>
                    <a:pt x="10730992" y="120269"/>
                    <a:pt x="10730992" y="269240"/>
                  </a:cubicBezTo>
                  <a:lnTo>
                    <a:pt x="10705592" y="269240"/>
                  </a:lnTo>
                  <a:lnTo>
                    <a:pt x="10730992" y="269240"/>
                  </a:lnTo>
                  <a:lnTo>
                    <a:pt x="10730992" y="2666238"/>
                  </a:lnTo>
                  <a:lnTo>
                    <a:pt x="10705592" y="2666238"/>
                  </a:lnTo>
                  <a:lnTo>
                    <a:pt x="10730992" y="2666238"/>
                  </a:lnTo>
                  <a:cubicBezTo>
                    <a:pt x="10730992" y="2815209"/>
                    <a:pt x="10608691" y="2935478"/>
                    <a:pt x="10458577" y="2935478"/>
                  </a:cubicBezTo>
                  <a:lnTo>
                    <a:pt x="10458577" y="2910078"/>
                  </a:lnTo>
                  <a:lnTo>
                    <a:pt x="10458577" y="2935478"/>
                  </a:lnTo>
                  <a:lnTo>
                    <a:pt x="272415" y="2935478"/>
                  </a:lnTo>
                  <a:lnTo>
                    <a:pt x="272415" y="2910078"/>
                  </a:lnTo>
                  <a:lnTo>
                    <a:pt x="272415" y="2935478"/>
                  </a:lnTo>
                  <a:cubicBezTo>
                    <a:pt x="122301" y="2935478"/>
                    <a:pt x="0" y="2815209"/>
                    <a:pt x="0" y="26662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66238"/>
                  </a:lnTo>
                  <a:lnTo>
                    <a:pt x="25400" y="2666238"/>
                  </a:lnTo>
                  <a:lnTo>
                    <a:pt x="50800" y="2666238"/>
                  </a:lnTo>
                  <a:cubicBezTo>
                    <a:pt x="50800" y="2786634"/>
                    <a:pt x="149733" y="2884678"/>
                    <a:pt x="272415" y="2884678"/>
                  </a:cubicBezTo>
                  <a:lnTo>
                    <a:pt x="10458577" y="2884678"/>
                  </a:lnTo>
                  <a:cubicBezTo>
                    <a:pt x="10581259" y="2884678"/>
                    <a:pt x="10680192" y="2786634"/>
                    <a:pt x="10680192" y="2666238"/>
                  </a:cubicBezTo>
                  <a:lnTo>
                    <a:pt x="10680192" y="269240"/>
                  </a:lnTo>
                  <a:cubicBezTo>
                    <a:pt x="10680192" y="148844"/>
                    <a:pt x="10581259" y="50800"/>
                    <a:pt x="10458577" y="50800"/>
                  </a:cubicBezTo>
                  <a:lnTo>
                    <a:pt x="272415" y="50800"/>
                  </a:lnTo>
                  <a:lnTo>
                    <a:pt x="272415" y="25400"/>
                  </a:lnTo>
                  <a:lnTo>
                    <a:pt x="272415" y="50800"/>
                  </a:lnTo>
                  <a:cubicBezTo>
                    <a:pt x="149733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B8BFD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247584" y="3564731"/>
            <a:ext cx="152400" cy="2163518"/>
            <a:chOff x="0" y="0"/>
            <a:chExt cx="203200" cy="28846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3200" cy="2884678"/>
            </a:xfrm>
            <a:custGeom>
              <a:avLst/>
              <a:gdLst/>
              <a:ahLst/>
              <a:cxnLst/>
              <a:rect r="r" b="b" t="t" l="l"/>
              <a:pathLst>
                <a:path h="2884678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783078"/>
                  </a:lnTo>
                  <a:cubicBezTo>
                    <a:pt x="203200" y="2839212"/>
                    <a:pt x="157734" y="2884678"/>
                    <a:pt x="101600" y="2884678"/>
                  </a:cubicBezTo>
                  <a:cubicBezTo>
                    <a:pt x="45466" y="2884678"/>
                    <a:pt x="0" y="2839212"/>
                    <a:pt x="0" y="2783078"/>
                  </a:cubicBezTo>
                  <a:close/>
                </a:path>
              </a:pathLst>
            </a:custGeom>
            <a:solidFill>
              <a:srgbClr val="4967E9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721606" y="3876827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Defense in Depth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21606" y="4394597"/>
            <a:ext cx="7252545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Implementing layered security controls (Firewalls, IPS, WAF, SIEM).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73188" y="5992711"/>
            <a:ext cx="8048034" cy="2201618"/>
            <a:chOff x="0" y="0"/>
            <a:chExt cx="10730713" cy="29354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25400"/>
              <a:ext cx="10679938" cy="2884678"/>
            </a:xfrm>
            <a:custGeom>
              <a:avLst/>
              <a:gdLst/>
              <a:ahLst/>
              <a:cxnLst/>
              <a:rect r="r" b="b" t="t" l="l"/>
              <a:pathLst>
                <a:path h="2884678" w="10679938">
                  <a:moveTo>
                    <a:pt x="0" y="243840"/>
                  </a:moveTo>
                  <a:cubicBezTo>
                    <a:pt x="0" y="109220"/>
                    <a:pt x="110617" y="0"/>
                    <a:pt x="247015" y="0"/>
                  </a:cubicBezTo>
                  <a:lnTo>
                    <a:pt x="10432923" y="0"/>
                  </a:lnTo>
                  <a:cubicBezTo>
                    <a:pt x="10569321" y="0"/>
                    <a:pt x="10679938" y="109220"/>
                    <a:pt x="10679938" y="243840"/>
                  </a:cubicBezTo>
                  <a:lnTo>
                    <a:pt x="10679938" y="2640838"/>
                  </a:lnTo>
                  <a:cubicBezTo>
                    <a:pt x="10679938" y="2775458"/>
                    <a:pt x="10569321" y="2884678"/>
                    <a:pt x="10432923" y="2884678"/>
                  </a:cubicBezTo>
                  <a:lnTo>
                    <a:pt x="247015" y="2884678"/>
                  </a:lnTo>
                  <a:cubicBezTo>
                    <a:pt x="110617" y="2884678"/>
                    <a:pt x="0" y="2775458"/>
                    <a:pt x="0" y="2640838"/>
                  </a:cubicBez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30738" cy="2935478"/>
            </a:xfrm>
            <a:custGeom>
              <a:avLst/>
              <a:gdLst/>
              <a:ahLst/>
              <a:cxnLst/>
              <a:rect r="r" b="b" t="t" l="l"/>
              <a:pathLst>
                <a:path h="2935478" w="10730738">
                  <a:moveTo>
                    <a:pt x="0" y="269240"/>
                  </a:moveTo>
                  <a:cubicBezTo>
                    <a:pt x="0" y="120269"/>
                    <a:pt x="122301" y="0"/>
                    <a:pt x="272415" y="0"/>
                  </a:cubicBezTo>
                  <a:lnTo>
                    <a:pt x="10458323" y="0"/>
                  </a:lnTo>
                  <a:lnTo>
                    <a:pt x="10458323" y="25400"/>
                  </a:lnTo>
                  <a:lnTo>
                    <a:pt x="10458323" y="0"/>
                  </a:lnTo>
                  <a:cubicBezTo>
                    <a:pt x="10608437" y="0"/>
                    <a:pt x="10730738" y="120269"/>
                    <a:pt x="10730738" y="269240"/>
                  </a:cubicBezTo>
                  <a:lnTo>
                    <a:pt x="10705338" y="269240"/>
                  </a:lnTo>
                  <a:lnTo>
                    <a:pt x="10730738" y="269240"/>
                  </a:lnTo>
                  <a:lnTo>
                    <a:pt x="10730738" y="2666238"/>
                  </a:lnTo>
                  <a:lnTo>
                    <a:pt x="10705338" y="2666238"/>
                  </a:lnTo>
                  <a:lnTo>
                    <a:pt x="10730738" y="2666238"/>
                  </a:lnTo>
                  <a:cubicBezTo>
                    <a:pt x="10730738" y="2815209"/>
                    <a:pt x="10608437" y="2935478"/>
                    <a:pt x="10458323" y="2935478"/>
                  </a:cubicBezTo>
                  <a:lnTo>
                    <a:pt x="10458323" y="2910078"/>
                  </a:lnTo>
                  <a:lnTo>
                    <a:pt x="10458323" y="2935478"/>
                  </a:lnTo>
                  <a:lnTo>
                    <a:pt x="272415" y="2935478"/>
                  </a:lnTo>
                  <a:lnTo>
                    <a:pt x="272415" y="2910078"/>
                  </a:lnTo>
                  <a:lnTo>
                    <a:pt x="272415" y="2935478"/>
                  </a:lnTo>
                  <a:cubicBezTo>
                    <a:pt x="122301" y="2935478"/>
                    <a:pt x="0" y="2815209"/>
                    <a:pt x="0" y="26662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66238"/>
                  </a:lnTo>
                  <a:lnTo>
                    <a:pt x="25400" y="2666238"/>
                  </a:lnTo>
                  <a:lnTo>
                    <a:pt x="50800" y="2666238"/>
                  </a:lnTo>
                  <a:cubicBezTo>
                    <a:pt x="50800" y="2786634"/>
                    <a:pt x="149733" y="2884678"/>
                    <a:pt x="272415" y="2884678"/>
                  </a:cubicBezTo>
                  <a:lnTo>
                    <a:pt x="10458323" y="2884678"/>
                  </a:lnTo>
                  <a:cubicBezTo>
                    <a:pt x="10581005" y="2884678"/>
                    <a:pt x="10679938" y="2786634"/>
                    <a:pt x="10679938" y="2666238"/>
                  </a:cubicBezTo>
                  <a:lnTo>
                    <a:pt x="10679938" y="269240"/>
                  </a:lnTo>
                  <a:cubicBezTo>
                    <a:pt x="10679938" y="148844"/>
                    <a:pt x="10581005" y="50800"/>
                    <a:pt x="10458323" y="50800"/>
                  </a:cubicBezTo>
                  <a:lnTo>
                    <a:pt x="272415" y="50800"/>
                  </a:lnTo>
                  <a:lnTo>
                    <a:pt x="272415" y="25400"/>
                  </a:lnTo>
                  <a:lnTo>
                    <a:pt x="272415" y="50800"/>
                  </a:lnTo>
                  <a:cubicBezTo>
                    <a:pt x="149733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B8BFD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54138" y="6011761"/>
            <a:ext cx="152400" cy="2163518"/>
            <a:chOff x="0" y="0"/>
            <a:chExt cx="203200" cy="28846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3200" cy="2884678"/>
            </a:xfrm>
            <a:custGeom>
              <a:avLst/>
              <a:gdLst/>
              <a:ahLst/>
              <a:cxnLst/>
              <a:rect r="r" b="b" t="t" l="l"/>
              <a:pathLst>
                <a:path h="2884678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783078"/>
                  </a:lnTo>
                  <a:cubicBezTo>
                    <a:pt x="203200" y="2839212"/>
                    <a:pt x="157734" y="2884678"/>
                    <a:pt x="101600" y="2884678"/>
                  </a:cubicBezTo>
                  <a:cubicBezTo>
                    <a:pt x="45466" y="2884678"/>
                    <a:pt x="0" y="2839212"/>
                    <a:pt x="0" y="2783078"/>
                  </a:cubicBezTo>
                  <a:close/>
                </a:path>
              </a:pathLst>
            </a:custGeom>
            <a:solidFill>
              <a:srgbClr val="4967E9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428159" y="6323857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Least Privilege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28159" y="6841627"/>
            <a:ext cx="7252392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Restricting access to the absolute minimum required for each role/system.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66634" y="5992711"/>
            <a:ext cx="8048177" cy="2201618"/>
            <a:chOff x="0" y="0"/>
            <a:chExt cx="10730903" cy="29354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25400" y="25400"/>
              <a:ext cx="10680192" cy="2884678"/>
            </a:xfrm>
            <a:custGeom>
              <a:avLst/>
              <a:gdLst/>
              <a:ahLst/>
              <a:cxnLst/>
              <a:rect r="r" b="b" t="t" l="l"/>
              <a:pathLst>
                <a:path h="2884678" w="10680192">
                  <a:moveTo>
                    <a:pt x="0" y="243840"/>
                  </a:moveTo>
                  <a:cubicBezTo>
                    <a:pt x="0" y="109220"/>
                    <a:pt x="110617" y="0"/>
                    <a:pt x="247015" y="0"/>
                  </a:cubicBezTo>
                  <a:lnTo>
                    <a:pt x="10433177" y="0"/>
                  </a:lnTo>
                  <a:cubicBezTo>
                    <a:pt x="10569575" y="0"/>
                    <a:pt x="10680192" y="109220"/>
                    <a:pt x="10680192" y="243840"/>
                  </a:cubicBezTo>
                  <a:lnTo>
                    <a:pt x="10680192" y="2640838"/>
                  </a:lnTo>
                  <a:cubicBezTo>
                    <a:pt x="10680192" y="2775458"/>
                    <a:pt x="10569575" y="2884678"/>
                    <a:pt x="10433177" y="2884678"/>
                  </a:cubicBezTo>
                  <a:lnTo>
                    <a:pt x="247015" y="2884678"/>
                  </a:lnTo>
                  <a:cubicBezTo>
                    <a:pt x="110617" y="2884678"/>
                    <a:pt x="0" y="2775458"/>
                    <a:pt x="0" y="2640838"/>
                  </a:cubicBez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30992" cy="2935478"/>
            </a:xfrm>
            <a:custGeom>
              <a:avLst/>
              <a:gdLst/>
              <a:ahLst/>
              <a:cxnLst/>
              <a:rect r="r" b="b" t="t" l="l"/>
              <a:pathLst>
                <a:path h="2935478" w="10730992">
                  <a:moveTo>
                    <a:pt x="0" y="269240"/>
                  </a:moveTo>
                  <a:cubicBezTo>
                    <a:pt x="0" y="120269"/>
                    <a:pt x="122301" y="0"/>
                    <a:pt x="272415" y="0"/>
                  </a:cubicBezTo>
                  <a:lnTo>
                    <a:pt x="10458577" y="0"/>
                  </a:lnTo>
                  <a:lnTo>
                    <a:pt x="10458577" y="25400"/>
                  </a:lnTo>
                  <a:lnTo>
                    <a:pt x="10458577" y="0"/>
                  </a:lnTo>
                  <a:cubicBezTo>
                    <a:pt x="10608691" y="0"/>
                    <a:pt x="10730992" y="120269"/>
                    <a:pt x="10730992" y="269240"/>
                  </a:cubicBezTo>
                  <a:lnTo>
                    <a:pt x="10705592" y="269240"/>
                  </a:lnTo>
                  <a:lnTo>
                    <a:pt x="10730992" y="269240"/>
                  </a:lnTo>
                  <a:lnTo>
                    <a:pt x="10730992" y="2666238"/>
                  </a:lnTo>
                  <a:lnTo>
                    <a:pt x="10705592" y="2666238"/>
                  </a:lnTo>
                  <a:lnTo>
                    <a:pt x="10730992" y="2666238"/>
                  </a:lnTo>
                  <a:cubicBezTo>
                    <a:pt x="10730992" y="2815209"/>
                    <a:pt x="10608691" y="2935478"/>
                    <a:pt x="10458577" y="2935478"/>
                  </a:cubicBezTo>
                  <a:lnTo>
                    <a:pt x="10458577" y="2910078"/>
                  </a:lnTo>
                  <a:lnTo>
                    <a:pt x="10458577" y="2935478"/>
                  </a:lnTo>
                  <a:lnTo>
                    <a:pt x="272415" y="2935478"/>
                  </a:lnTo>
                  <a:lnTo>
                    <a:pt x="272415" y="2910078"/>
                  </a:lnTo>
                  <a:lnTo>
                    <a:pt x="272415" y="2935478"/>
                  </a:lnTo>
                  <a:cubicBezTo>
                    <a:pt x="122301" y="2935478"/>
                    <a:pt x="0" y="2815209"/>
                    <a:pt x="0" y="26662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66238"/>
                  </a:lnTo>
                  <a:lnTo>
                    <a:pt x="25400" y="2666238"/>
                  </a:lnTo>
                  <a:lnTo>
                    <a:pt x="50800" y="2666238"/>
                  </a:lnTo>
                  <a:cubicBezTo>
                    <a:pt x="50800" y="2786634"/>
                    <a:pt x="149733" y="2884678"/>
                    <a:pt x="272415" y="2884678"/>
                  </a:cubicBezTo>
                  <a:lnTo>
                    <a:pt x="10458577" y="2884678"/>
                  </a:lnTo>
                  <a:cubicBezTo>
                    <a:pt x="10581259" y="2884678"/>
                    <a:pt x="10680192" y="2786634"/>
                    <a:pt x="10680192" y="2666238"/>
                  </a:cubicBezTo>
                  <a:lnTo>
                    <a:pt x="10680192" y="269240"/>
                  </a:lnTo>
                  <a:cubicBezTo>
                    <a:pt x="10680192" y="148844"/>
                    <a:pt x="10581259" y="50800"/>
                    <a:pt x="10458577" y="50800"/>
                  </a:cubicBezTo>
                  <a:lnTo>
                    <a:pt x="272415" y="50800"/>
                  </a:lnTo>
                  <a:lnTo>
                    <a:pt x="272415" y="25400"/>
                  </a:lnTo>
                  <a:lnTo>
                    <a:pt x="272415" y="50800"/>
                  </a:lnTo>
                  <a:cubicBezTo>
                    <a:pt x="149733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B8BFD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247584" y="6011761"/>
            <a:ext cx="152400" cy="2163518"/>
            <a:chOff x="0" y="0"/>
            <a:chExt cx="203200" cy="288469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3200" cy="2884678"/>
            </a:xfrm>
            <a:custGeom>
              <a:avLst/>
              <a:gdLst/>
              <a:ahLst/>
              <a:cxnLst/>
              <a:rect r="r" b="b" t="t" l="l"/>
              <a:pathLst>
                <a:path h="2884678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783078"/>
                  </a:lnTo>
                  <a:cubicBezTo>
                    <a:pt x="203200" y="2839212"/>
                    <a:pt x="157734" y="2884678"/>
                    <a:pt x="101600" y="2884678"/>
                  </a:cubicBezTo>
                  <a:cubicBezTo>
                    <a:pt x="45466" y="2884678"/>
                    <a:pt x="0" y="2839212"/>
                    <a:pt x="0" y="2783078"/>
                  </a:cubicBezTo>
                  <a:close/>
                </a:path>
              </a:pathLst>
            </a:custGeom>
            <a:solidFill>
              <a:srgbClr val="4967E9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721606" y="6323857"/>
            <a:ext cx="439266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Blast Radius Containment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21606" y="6841627"/>
            <a:ext cx="7252545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Using strict segmentation to prevent lateral movement during a breach.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5229073"/>
            <a:chOff x="0" y="0"/>
            <a:chExt cx="24384000" cy="6972097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6972046"/>
            </a:xfrm>
            <a:custGeom>
              <a:avLst/>
              <a:gdLst/>
              <a:ahLst/>
              <a:cxnLst/>
              <a:rect r="r" b="b" t="t" l="l"/>
              <a:pathLst>
                <a:path h="697204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972046"/>
                  </a:lnTo>
                  <a:lnTo>
                    <a:pt x="0" y="69720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" r="0" b="-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76017" y="5981852"/>
            <a:ext cx="14060386" cy="900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37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High-Level Segmentation (The Zone Model)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6017" y="7198071"/>
            <a:ext cx="16335966" cy="230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This diagram shows how different parts of the network are separated for security. The </a:t>
            </a:r>
            <a:r>
              <a:rPr lang="en-US" sz="2187" b="true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DMZ</a:t>
            </a: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 handles public-facing services like online banking and email gateways. The </a:t>
            </a:r>
            <a:r>
              <a:rPr lang="en-US" sz="2187" b="true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Application Tier</a:t>
            </a: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 is where the core business logic and transaction processing happens. The </a:t>
            </a:r>
            <a:r>
              <a:rPr lang="en-US" sz="2187" b="true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Data Tier</a:t>
            </a: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 protects the most valuable assets, like customer data and transaction records, with strong encryption. Finally, the </a:t>
            </a:r>
            <a:r>
              <a:rPr lang="en-US" sz="2187" b="true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Corporate &amp; Management</a:t>
            </a: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 zone is for isolated employee workstations and special admin "Jump Servers" to manage everything securely.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19900" y="3698894"/>
            <a:ext cx="3136429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699">
                <a:solidFill>
                  <a:srgbClr val="111518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Application Tier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87389" y="3737008"/>
            <a:ext cx="104921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111518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DMZ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37981" y="3710283"/>
            <a:ext cx="209628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111518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Data Tier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20160" y="3710307"/>
            <a:ext cx="2802985" cy="798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7"/>
              </a:lnSpc>
            </a:pPr>
            <a:r>
              <a:rPr lang="en-US" b="true" sz="2700">
                <a:solidFill>
                  <a:srgbClr val="111518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Corporate &amp;</a:t>
            </a:r>
          </a:p>
          <a:p>
            <a:pPr algn="ctr">
              <a:lnSpc>
                <a:spcPts val="3177"/>
              </a:lnSpc>
            </a:pPr>
            <a:r>
              <a:rPr lang="en-US" b="true" sz="2700">
                <a:solidFill>
                  <a:srgbClr val="111518"/>
                </a:solidFill>
                <a:latin typeface="Open Sauce SemiBold Bold"/>
                <a:ea typeface="Open Sauce SemiBold Bold"/>
                <a:cs typeface="Open Sauce SemiBold Bold"/>
                <a:sym typeface="Open Sauce SemiBold Bold"/>
              </a:rPr>
              <a:t>Management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06423" y="2358941"/>
            <a:ext cx="13967231" cy="1463117"/>
            <a:chOff x="0" y="0"/>
            <a:chExt cx="18622974" cy="19508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1059" y="2859"/>
              <a:ext cx="18600567" cy="1945089"/>
            </a:xfrm>
            <a:custGeom>
              <a:avLst/>
              <a:gdLst/>
              <a:ahLst/>
              <a:cxnLst/>
              <a:rect r="r" b="b" t="t" l="l"/>
              <a:pathLst>
                <a:path h="1945089" w="18600567">
                  <a:moveTo>
                    <a:pt x="0" y="71468"/>
                  </a:moveTo>
                  <a:cubicBezTo>
                    <a:pt x="0" y="32018"/>
                    <a:pt x="124087" y="0"/>
                    <a:pt x="276928" y="0"/>
                  </a:cubicBezTo>
                  <a:lnTo>
                    <a:pt x="18323642" y="0"/>
                  </a:lnTo>
                  <a:cubicBezTo>
                    <a:pt x="18476704" y="0"/>
                    <a:pt x="18600568" y="32018"/>
                    <a:pt x="18600568" y="71468"/>
                  </a:cubicBezTo>
                  <a:lnTo>
                    <a:pt x="18600568" y="1873620"/>
                  </a:lnTo>
                  <a:cubicBezTo>
                    <a:pt x="18600568" y="1913070"/>
                    <a:pt x="18476482" y="1945088"/>
                    <a:pt x="18323642" y="1945088"/>
                  </a:cubicBezTo>
                  <a:lnTo>
                    <a:pt x="276928" y="1945088"/>
                  </a:lnTo>
                  <a:cubicBezTo>
                    <a:pt x="124087" y="1945088"/>
                    <a:pt x="0" y="1913128"/>
                    <a:pt x="0" y="1873620"/>
                  </a:cubicBezTo>
                  <a:close/>
                </a:path>
              </a:pathLst>
            </a:custGeom>
            <a:solidFill>
              <a:srgbClr val="D2D9F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622687" cy="1950806"/>
            </a:xfrm>
            <a:custGeom>
              <a:avLst/>
              <a:gdLst/>
              <a:ahLst/>
              <a:cxnLst/>
              <a:rect r="r" b="b" t="t" l="l"/>
              <a:pathLst>
                <a:path h="1950806" w="18622687">
                  <a:moveTo>
                    <a:pt x="0" y="74327"/>
                  </a:moveTo>
                  <a:cubicBezTo>
                    <a:pt x="0" y="33276"/>
                    <a:pt x="128952" y="0"/>
                    <a:pt x="287987" y="0"/>
                  </a:cubicBezTo>
                  <a:lnTo>
                    <a:pt x="18334701" y="0"/>
                  </a:lnTo>
                  <a:lnTo>
                    <a:pt x="18334701" y="2859"/>
                  </a:lnTo>
                  <a:lnTo>
                    <a:pt x="18334701" y="0"/>
                  </a:lnTo>
                  <a:cubicBezTo>
                    <a:pt x="18493735" y="0"/>
                    <a:pt x="18622687" y="33276"/>
                    <a:pt x="18622687" y="74327"/>
                  </a:cubicBezTo>
                  <a:lnTo>
                    <a:pt x="18611627" y="74327"/>
                  </a:lnTo>
                  <a:lnTo>
                    <a:pt x="18622687" y="74327"/>
                  </a:lnTo>
                  <a:lnTo>
                    <a:pt x="18622687" y="1876479"/>
                  </a:lnTo>
                  <a:lnTo>
                    <a:pt x="18611627" y="1876479"/>
                  </a:lnTo>
                  <a:lnTo>
                    <a:pt x="18622687" y="1876479"/>
                  </a:lnTo>
                  <a:cubicBezTo>
                    <a:pt x="18622687" y="1917530"/>
                    <a:pt x="18493735" y="1950806"/>
                    <a:pt x="18334701" y="1950806"/>
                  </a:cubicBezTo>
                  <a:lnTo>
                    <a:pt x="18334701" y="1947947"/>
                  </a:lnTo>
                  <a:lnTo>
                    <a:pt x="18334701" y="1950806"/>
                  </a:lnTo>
                  <a:lnTo>
                    <a:pt x="287987" y="1950806"/>
                  </a:lnTo>
                  <a:lnTo>
                    <a:pt x="287987" y="1947947"/>
                  </a:lnTo>
                  <a:lnTo>
                    <a:pt x="287987" y="1950806"/>
                  </a:lnTo>
                  <a:cubicBezTo>
                    <a:pt x="128952" y="1950806"/>
                    <a:pt x="0" y="1917530"/>
                    <a:pt x="0" y="1876479"/>
                  </a:cubicBezTo>
                  <a:lnTo>
                    <a:pt x="0" y="74327"/>
                  </a:lnTo>
                  <a:lnTo>
                    <a:pt x="11059" y="74327"/>
                  </a:lnTo>
                  <a:lnTo>
                    <a:pt x="0" y="74327"/>
                  </a:lnTo>
                  <a:moveTo>
                    <a:pt x="22119" y="74327"/>
                  </a:moveTo>
                  <a:lnTo>
                    <a:pt x="22119" y="1876479"/>
                  </a:lnTo>
                  <a:lnTo>
                    <a:pt x="11059" y="1876479"/>
                  </a:lnTo>
                  <a:lnTo>
                    <a:pt x="22119" y="1876479"/>
                  </a:lnTo>
                  <a:cubicBezTo>
                    <a:pt x="22119" y="1914386"/>
                    <a:pt x="141118" y="1945089"/>
                    <a:pt x="287987" y="1945089"/>
                  </a:cubicBezTo>
                  <a:lnTo>
                    <a:pt x="18334701" y="1945089"/>
                  </a:lnTo>
                  <a:cubicBezTo>
                    <a:pt x="18481570" y="1945089"/>
                    <a:pt x="18600569" y="1914386"/>
                    <a:pt x="18600569" y="1876479"/>
                  </a:cubicBezTo>
                  <a:lnTo>
                    <a:pt x="18600569" y="74327"/>
                  </a:lnTo>
                  <a:cubicBezTo>
                    <a:pt x="18600569" y="36420"/>
                    <a:pt x="18481570" y="5717"/>
                    <a:pt x="18334701" y="5717"/>
                  </a:cubicBezTo>
                  <a:lnTo>
                    <a:pt x="287987" y="5717"/>
                  </a:lnTo>
                  <a:lnTo>
                    <a:pt x="287987" y="2859"/>
                  </a:lnTo>
                  <a:lnTo>
                    <a:pt x="287987" y="5717"/>
                  </a:lnTo>
                  <a:cubicBezTo>
                    <a:pt x="141118" y="5717"/>
                    <a:pt x="22119" y="36420"/>
                    <a:pt x="22119" y="74327"/>
                  </a:cubicBezTo>
                  <a:close/>
                </a:path>
              </a:pathLst>
            </a:custGeom>
            <a:solidFill>
              <a:srgbClr val="B8BFD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2149310" y="2526211"/>
            <a:ext cx="13724343" cy="87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Technical Security Controls (The Guards)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7476" y="4003034"/>
            <a:ext cx="16313048" cy="3733800"/>
            <a:chOff x="0" y="0"/>
            <a:chExt cx="21750731" cy="4978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50782" cy="4978400"/>
            </a:xfrm>
            <a:custGeom>
              <a:avLst/>
              <a:gdLst/>
              <a:ahLst/>
              <a:cxnLst/>
              <a:rect r="r" b="b" t="t" l="l"/>
              <a:pathLst>
                <a:path h="4978400" w="21750782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21585301" y="0"/>
                  </a:lnTo>
                  <a:lnTo>
                    <a:pt x="21585301" y="6350"/>
                  </a:lnTo>
                  <a:lnTo>
                    <a:pt x="21585301" y="0"/>
                  </a:lnTo>
                  <a:cubicBezTo>
                    <a:pt x="21676613" y="0"/>
                    <a:pt x="21750782" y="73914"/>
                    <a:pt x="21750782" y="165100"/>
                  </a:cubicBezTo>
                  <a:lnTo>
                    <a:pt x="21744432" y="165100"/>
                  </a:lnTo>
                  <a:lnTo>
                    <a:pt x="21750782" y="165100"/>
                  </a:lnTo>
                  <a:lnTo>
                    <a:pt x="21750782" y="4813300"/>
                  </a:lnTo>
                  <a:lnTo>
                    <a:pt x="21744432" y="4813300"/>
                  </a:lnTo>
                  <a:lnTo>
                    <a:pt x="21750782" y="4813300"/>
                  </a:lnTo>
                  <a:cubicBezTo>
                    <a:pt x="21750782" y="4904486"/>
                    <a:pt x="21676740" y="4978400"/>
                    <a:pt x="21585301" y="4978400"/>
                  </a:cubicBezTo>
                  <a:lnTo>
                    <a:pt x="21585301" y="4972050"/>
                  </a:lnTo>
                  <a:lnTo>
                    <a:pt x="21585301" y="4978400"/>
                  </a:lnTo>
                  <a:lnTo>
                    <a:pt x="165481" y="4978400"/>
                  </a:lnTo>
                  <a:lnTo>
                    <a:pt x="165481" y="4972050"/>
                  </a:lnTo>
                  <a:lnTo>
                    <a:pt x="165481" y="4978400"/>
                  </a:lnTo>
                  <a:cubicBezTo>
                    <a:pt x="74041" y="4978400"/>
                    <a:pt x="0" y="4904486"/>
                    <a:pt x="0" y="481330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813300"/>
                  </a:lnTo>
                  <a:lnTo>
                    <a:pt x="6350" y="4813300"/>
                  </a:lnTo>
                  <a:lnTo>
                    <a:pt x="12700" y="4813300"/>
                  </a:lnTo>
                  <a:cubicBezTo>
                    <a:pt x="12700" y="4897501"/>
                    <a:pt x="81026" y="4965700"/>
                    <a:pt x="165481" y="4965700"/>
                  </a:cubicBezTo>
                  <a:lnTo>
                    <a:pt x="21585301" y="4965700"/>
                  </a:lnTo>
                  <a:cubicBezTo>
                    <a:pt x="21669629" y="4965700"/>
                    <a:pt x="21738082" y="4897374"/>
                    <a:pt x="21738082" y="4813300"/>
                  </a:cubicBezTo>
                  <a:lnTo>
                    <a:pt x="21738082" y="165100"/>
                  </a:lnTo>
                  <a:cubicBezTo>
                    <a:pt x="21738082" y="80899"/>
                    <a:pt x="21669756" y="12700"/>
                    <a:pt x="21585301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01763" y="4017321"/>
            <a:ext cx="16284473" cy="1266530"/>
            <a:chOff x="0" y="0"/>
            <a:chExt cx="21712631" cy="16887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12682" cy="1688719"/>
            </a:xfrm>
            <a:custGeom>
              <a:avLst/>
              <a:gdLst/>
              <a:ahLst/>
              <a:cxnLst/>
              <a:rect r="r" b="b" t="t" l="l"/>
              <a:pathLst>
                <a:path h="1688719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688719"/>
                  </a:lnTo>
                  <a:lnTo>
                    <a:pt x="0" y="168871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85427" y="4092178"/>
            <a:ext cx="3499247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Perimeter Security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61232" y="4092178"/>
            <a:ext cx="5937199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Deep Packet Inspection &amp; SSL Inspection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74998" y="4092178"/>
            <a:ext cx="5127727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Palo Alto PA-5220 / Fortinet FortiGate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01763" y="5283841"/>
            <a:ext cx="16284473" cy="812902"/>
            <a:chOff x="0" y="0"/>
            <a:chExt cx="21712631" cy="10838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85427" y="5358708"/>
            <a:ext cx="3499247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Web Protection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61232" y="5358708"/>
            <a:ext cx="5937199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Mitigating SQLi, XSS, and DDoS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874998" y="5358708"/>
            <a:ext cx="5127727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Cloudflare WAF / AWS WAF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01763" y="6096743"/>
            <a:ext cx="16284473" cy="812902"/>
            <a:chOff x="0" y="0"/>
            <a:chExt cx="21712631" cy="108386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85427" y="6171609"/>
            <a:ext cx="3499247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Intrusion Defense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361232" y="6171609"/>
            <a:ext cx="5937199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Real-time threat blocking (IPS)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874998" y="6171609"/>
            <a:ext cx="5127727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Cisco Firepower / Suricata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01763" y="6909645"/>
            <a:ext cx="16284473" cy="812902"/>
            <a:chOff x="0" y="0"/>
            <a:chExt cx="21712631" cy="108386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85427" y="6984502"/>
            <a:ext cx="3499247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Access Control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361232" y="6984502"/>
            <a:ext cx="5937199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Device health &amp; compliance checks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874998" y="6984502"/>
            <a:ext cx="5127727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Cisco ISE / Aruba ClearPass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006231"/>
            <a:ext cx="8091192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Resilience &amp; Availability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2483053"/>
            <a:ext cx="8019459" cy="3249959"/>
            <a:chOff x="0" y="0"/>
            <a:chExt cx="10692613" cy="43332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10679811" cy="4320540"/>
            </a:xfrm>
            <a:custGeom>
              <a:avLst/>
              <a:gdLst/>
              <a:ahLst/>
              <a:cxnLst/>
              <a:rect r="r" b="b" t="t" l="l"/>
              <a:pathLst>
                <a:path h="4320540" w="10679811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10520807" y="0"/>
                  </a:lnTo>
                  <a:cubicBezTo>
                    <a:pt x="10608690" y="0"/>
                    <a:pt x="10679811" y="71120"/>
                    <a:pt x="10679811" y="158750"/>
                  </a:cubicBezTo>
                  <a:lnTo>
                    <a:pt x="10679811" y="4161790"/>
                  </a:lnTo>
                  <a:cubicBezTo>
                    <a:pt x="10679811" y="4249420"/>
                    <a:pt x="10608563" y="4320540"/>
                    <a:pt x="10520807" y="4320540"/>
                  </a:cubicBezTo>
                  <a:lnTo>
                    <a:pt x="159004" y="4320540"/>
                  </a:lnTo>
                  <a:cubicBezTo>
                    <a:pt x="71247" y="4320540"/>
                    <a:pt x="0" y="4249547"/>
                    <a:pt x="0" y="4161790"/>
                  </a:cubicBezTo>
                  <a:close/>
                </a:path>
              </a:pathLst>
            </a:custGeom>
            <a:solidFill>
              <a:srgbClr val="D2D9F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92511" cy="4333240"/>
            </a:xfrm>
            <a:custGeom>
              <a:avLst/>
              <a:gdLst/>
              <a:ahLst/>
              <a:cxnLst/>
              <a:rect r="r" b="b" t="t" l="l"/>
              <a:pathLst>
                <a:path h="4333240" w="10692511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0527157" y="0"/>
                  </a:lnTo>
                  <a:lnTo>
                    <a:pt x="10527157" y="6350"/>
                  </a:lnTo>
                  <a:lnTo>
                    <a:pt x="10527157" y="0"/>
                  </a:lnTo>
                  <a:cubicBezTo>
                    <a:pt x="10618470" y="0"/>
                    <a:pt x="10692511" y="73914"/>
                    <a:pt x="10692511" y="165100"/>
                  </a:cubicBezTo>
                  <a:lnTo>
                    <a:pt x="10686161" y="165100"/>
                  </a:lnTo>
                  <a:lnTo>
                    <a:pt x="10692511" y="165100"/>
                  </a:lnTo>
                  <a:lnTo>
                    <a:pt x="10692511" y="4168140"/>
                  </a:lnTo>
                  <a:lnTo>
                    <a:pt x="10686161" y="4168140"/>
                  </a:lnTo>
                  <a:lnTo>
                    <a:pt x="10692511" y="4168140"/>
                  </a:lnTo>
                  <a:cubicBezTo>
                    <a:pt x="10692511" y="4259326"/>
                    <a:pt x="10618470" y="4333240"/>
                    <a:pt x="10527157" y="4333240"/>
                  </a:cubicBezTo>
                  <a:lnTo>
                    <a:pt x="10527157" y="4326890"/>
                  </a:lnTo>
                  <a:lnTo>
                    <a:pt x="10527157" y="4333240"/>
                  </a:lnTo>
                  <a:lnTo>
                    <a:pt x="165354" y="4333240"/>
                  </a:lnTo>
                  <a:lnTo>
                    <a:pt x="165354" y="4326890"/>
                  </a:lnTo>
                  <a:lnTo>
                    <a:pt x="165354" y="4333240"/>
                  </a:lnTo>
                  <a:cubicBezTo>
                    <a:pt x="74041" y="4333240"/>
                    <a:pt x="0" y="4259326"/>
                    <a:pt x="0" y="416814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168140"/>
                  </a:lnTo>
                  <a:lnTo>
                    <a:pt x="6350" y="4168140"/>
                  </a:lnTo>
                  <a:lnTo>
                    <a:pt x="12700" y="4168140"/>
                  </a:lnTo>
                  <a:cubicBezTo>
                    <a:pt x="12700" y="4252341"/>
                    <a:pt x="81026" y="4320540"/>
                    <a:pt x="165354" y="4320540"/>
                  </a:cubicBezTo>
                  <a:lnTo>
                    <a:pt x="10527157" y="4320540"/>
                  </a:lnTo>
                  <a:cubicBezTo>
                    <a:pt x="10611485" y="4320540"/>
                    <a:pt x="10679811" y="4252341"/>
                    <a:pt x="10679811" y="4168140"/>
                  </a:cubicBezTo>
                  <a:lnTo>
                    <a:pt x="10679811" y="165100"/>
                  </a:lnTo>
                  <a:cubicBezTo>
                    <a:pt x="10679811" y="80899"/>
                    <a:pt x="10611485" y="12700"/>
                    <a:pt x="10527157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8BFD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85284" y="2780852"/>
            <a:ext cx="850554" cy="850554"/>
            <a:chOff x="0" y="0"/>
            <a:chExt cx="1134072" cy="11340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967E9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519238" y="3014662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098" t="0" r="-6096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85284" y="3905402"/>
            <a:ext cx="3688852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High Availability (HA)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284" y="4423172"/>
            <a:ext cx="7423842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Active/Passive firewall failover to ensure zero downtime.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80922" y="2483053"/>
            <a:ext cx="8019602" cy="3249959"/>
            <a:chOff x="0" y="0"/>
            <a:chExt cx="10692803" cy="43332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10679938" cy="4320540"/>
            </a:xfrm>
            <a:custGeom>
              <a:avLst/>
              <a:gdLst/>
              <a:ahLst/>
              <a:cxnLst/>
              <a:rect r="r" b="b" t="t" l="l"/>
              <a:pathLst>
                <a:path h="4320540" w="10679938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10520935" y="0"/>
                  </a:lnTo>
                  <a:cubicBezTo>
                    <a:pt x="10608818" y="0"/>
                    <a:pt x="10679938" y="71120"/>
                    <a:pt x="10679938" y="158750"/>
                  </a:cubicBezTo>
                  <a:lnTo>
                    <a:pt x="10679938" y="4161790"/>
                  </a:lnTo>
                  <a:cubicBezTo>
                    <a:pt x="10679938" y="4249420"/>
                    <a:pt x="10608691" y="4320540"/>
                    <a:pt x="10520935" y="4320540"/>
                  </a:cubicBezTo>
                  <a:lnTo>
                    <a:pt x="159004" y="4320540"/>
                  </a:lnTo>
                  <a:cubicBezTo>
                    <a:pt x="71247" y="4320540"/>
                    <a:pt x="0" y="4249547"/>
                    <a:pt x="0" y="4161790"/>
                  </a:cubicBezTo>
                  <a:close/>
                </a:path>
              </a:pathLst>
            </a:custGeom>
            <a:solidFill>
              <a:srgbClr val="D2D9F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92638" cy="4333240"/>
            </a:xfrm>
            <a:custGeom>
              <a:avLst/>
              <a:gdLst/>
              <a:ahLst/>
              <a:cxnLst/>
              <a:rect r="r" b="b" t="t" l="l"/>
              <a:pathLst>
                <a:path h="4333240" w="10692638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0527285" y="0"/>
                  </a:lnTo>
                  <a:lnTo>
                    <a:pt x="10527285" y="6350"/>
                  </a:lnTo>
                  <a:lnTo>
                    <a:pt x="10527285" y="0"/>
                  </a:lnTo>
                  <a:cubicBezTo>
                    <a:pt x="10618598" y="0"/>
                    <a:pt x="10692638" y="73914"/>
                    <a:pt x="10692638" y="165100"/>
                  </a:cubicBezTo>
                  <a:lnTo>
                    <a:pt x="10686288" y="165100"/>
                  </a:lnTo>
                  <a:lnTo>
                    <a:pt x="10692638" y="165100"/>
                  </a:lnTo>
                  <a:lnTo>
                    <a:pt x="10692638" y="4168140"/>
                  </a:lnTo>
                  <a:lnTo>
                    <a:pt x="10686288" y="4168140"/>
                  </a:lnTo>
                  <a:lnTo>
                    <a:pt x="10692638" y="4168140"/>
                  </a:lnTo>
                  <a:cubicBezTo>
                    <a:pt x="10692638" y="4259326"/>
                    <a:pt x="10618598" y="4333240"/>
                    <a:pt x="10527285" y="4333240"/>
                  </a:cubicBezTo>
                  <a:lnTo>
                    <a:pt x="10527285" y="4326890"/>
                  </a:lnTo>
                  <a:lnTo>
                    <a:pt x="10527285" y="4333240"/>
                  </a:lnTo>
                  <a:lnTo>
                    <a:pt x="165354" y="4333240"/>
                  </a:lnTo>
                  <a:lnTo>
                    <a:pt x="165354" y="4326890"/>
                  </a:lnTo>
                  <a:lnTo>
                    <a:pt x="165354" y="4333240"/>
                  </a:lnTo>
                  <a:cubicBezTo>
                    <a:pt x="74041" y="4333240"/>
                    <a:pt x="0" y="4259326"/>
                    <a:pt x="0" y="416814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168140"/>
                  </a:lnTo>
                  <a:lnTo>
                    <a:pt x="6350" y="4168140"/>
                  </a:lnTo>
                  <a:lnTo>
                    <a:pt x="12700" y="4168140"/>
                  </a:lnTo>
                  <a:cubicBezTo>
                    <a:pt x="12700" y="4252341"/>
                    <a:pt x="81026" y="4320540"/>
                    <a:pt x="165354" y="4320540"/>
                  </a:cubicBezTo>
                  <a:lnTo>
                    <a:pt x="10527285" y="4320540"/>
                  </a:lnTo>
                  <a:cubicBezTo>
                    <a:pt x="10611612" y="4320540"/>
                    <a:pt x="10679938" y="4252341"/>
                    <a:pt x="10679938" y="4168140"/>
                  </a:cubicBezTo>
                  <a:lnTo>
                    <a:pt x="10679938" y="165100"/>
                  </a:lnTo>
                  <a:cubicBezTo>
                    <a:pt x="10679938" y="80899"/>
                    <a:pt x="10611612" y="12700"/>
                    <a:pt x="10527285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8BFD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578731" y="2780852"/>
            <a:ext cx="850554" cy="850554"/>
            <a:chOff x="0" y="0"/>
            <a:chExt cx="1134072" cy="11340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967E9"/>
            </a:solidFill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9812684" y="3014662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2195" r="0" b="-62195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578731" y="3905402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Load Balancing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78731" y="4423172"/>
            <a:ext cx="7423995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Layer 7 (Application Layer) intelligence to distribute traffic across healthy clusters.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87476" y="6006998"/>
            <a:ext cx="8019459" cy="3249959"/>
            <a:chOff x="0" y="0"/>
            <a:chExt cx="10692613" cy="43332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10679811" cy="4320540"/>
            </a:xfrm>
            <a:custGeom>
              <a:avLst/>
              <a:gdLst/>
              <a:ahLst/>
              <a:cxnLst/>
              <a:rect r="r" b="b" t="t" l="l"/>
              <a:pathLst>
                <a:path h="4320540" w="10679811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10520807" y="0"/>
                  </a:lnTo>
                  <a:cubicBezTo>
                    <a:pt x="10608690" y="0"/>
                    <a:pt x="10679811" y="71120"/>
                    <a:pt x="10679811" y="158750"/>
                  </a:cubicBezTo>
                  <a:lnTo>
                    <a:pt x="10679811" y="4161790"/>
                  </a:lnTo>
                  <a:cubicBezTo>
                    <a:pt x="10679811" y="4249420"/>
                    <a:pt x="10608563" y="4320540"/>
                    <a:pt x="10520807" y="4320540"/>
                  </a:cubicBezTo>
                  <a:lnTo>
                    <a:pt x="159004" y="4320540"/>
                  </a:lnTo>
                  <a:cubicBezTo>
                    <a:pt x="71247" y="4320540"/>
                    <a:pt x="0" y="4249547"/>
                    <a:pt x="0" y="4161790"/>
                  </a:cubicBezTo>
                  <a:close/>
                </a:path>
              </a:pathLst>
            </a:custGeom>
            <a:solidFill>
              <a:srgbClr val="D2D9F9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92511" cy="4333240"/>
            </a:xfrm>
            <a:custGeom>
              <a:avLst/>
              <a:gdLst/>
              <a:ahLst/>
              <a:cxnLst/>
              <a:rect r="r" b="b" t="t" l="l"/>
              <a:pathLst>
                <a:path h="4333240" w="10692511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0527157" y="0"/>
                  </a:lnTo>
                  <a:lnTo>
                    <a:pt x="10527157" y="6350"/>
                  </a:lnTo>
                  <a:lnTo>
                    <a:pt x="10527157" y="0"/>
                  </a:lnTo>
                  <a:cubicBezTo>
                    <a:pt x="10618470" y="0"/>
                    <a:pt x="10692511" y="73914"/>
                    <a:pt x="10692511" y="165100"/>
                  </a:cubicBezTo>
                  <a:lnTo>
                    <a:pt x="10686161" y="165100"/>
                  </a:lnTo>
                  <a:lnTo>
                    <a:pt x="10692511" y="165100"/>
                  </a:lnTo>
                  <a:lnTo>
                    <a:pt x="10692511" y="4168140"/>
                  </a:lnTo>
                  <a:lnTo>
                    <a:pt x="10686161" y="4168140"/>
                  </a:lnTo>
                  <a:lnTo>
                    <a:pt x="10692511" y="4168140"/>
                  </a:lnTo>
                  <a:cubicBezTo>
                    <a:pt x="10692511" y="4259326"/>
                    <a:pt x="10618470" y="4333240"/>
                    <a:pt x="10527157" y="4333240"/>
                  </a:cubicBezTo>
                  <a:lnTo>
                    <a:pt x="10527157" y="4326890"/>
                  </a:lnTo>
                  <a:lnTo>
                    <a:pt x="10527157" y="4333240"/>
                  </a:lnTo>
                  <a:lnTo>
                    <a:pt x="165354" y="4333240"/>
                  </a:lnTo>
                  <a:lnTo>
                    <a:pt x="165354" y="4326890"/>
                  </a:lnTo>
                  <a:lnTo>
                    <a:pt x="165354" y="4333240"/>
                  </a:lnTo>
                  <a:cubicBezTo>
                    <a:pt x="74041" y="4333240"/>
                    <a:pt x="0" y="4259326"/>
                    <a:pt x="0" y="416814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168140"/>
                  </a:lnTo>
                  <a:lnTo>
                    <a:pt x="6350" y="4168140"/>
                  </a:lnTo>
                  <a:lnTo>
                    <a:pt x="12700" y="4168140"/>
                  </a:lnTo>
                  <a:cubicBezTo>
                    <a:pt x="12700" y="4252341"/>
                    <a:pt x="81026" y="4320540"/>
                    <a:pt x="165354" y="4320540"/>
                  </a:cubicBezTo>
                  <a:lnTo>
                    <a:pt x="10527157" y="4320540"/>
                  </a:lnTo>
                  <a:cubicBezTo>
                    <a:pt x="10611485" y="4320540"/>
                    <a:pt x="10679811" y="4252341"/>
                    <a:pt x="10679811" y="4168140"/>
                  </a:cubicBezTo>
                  <a:lnTo>
                    <a:pt x="10679811" y="165100"/>
                  </a:lnTo>
                  <a:cubicBezTo>
                    <a:pt x="10679811" y="80899"/>
                    <a:pt x="10611485" y="12700"/>
                    <a:pt x="10527157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8BFD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85284" y="6304807"/>
            <a:ext cx="850554" cy="850554"/>
            <a:chOff x="0" y="0"/>
            <a:chExt cx="1134072" cy="11340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967E9"/>
            </a:solidFill>
          </p:spPr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1519238" y="6538617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2195" r="0" b="-12195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85284" y="7429348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DDoS Protection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5284" y="7947127"/>
            <a:ext cx="7423842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Cloud-based scrubbing to absorb massive traffic spikes before they hit the bank.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280922" y="6006998"/>
            <a:ext cx="8019602" cy="3249959"/>
            <a:chOff x="0" y="0"/>
            <a:chExt cx="10692803" cy="433327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50" y="6350"/>
              <a:ext cx="10679938" cy="4320540"/>
            </a:xfrm>
            <a:custGeom>
              <a:avLst/>
              <a:gdLst/>
              <a:ahLst/>
              <a:cxnLst/>
              <a:rect r="r" b="b" t="t" l="l"/>
              <a:pathLst>
                <a:path h="4320540" w="10679938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10520935" y="0"/>
                  </a:lnTo>
                  <a:cubicBezTo>
                    <a:pt x="10608818" y="0"/>
                    <a:pt x="10679938" y="71120"/>
                    <a:pt x="10679938" y="158750"/>
                  </a:cubicBezTo>
                  <a:lnTo>
                    <a:pt x="10679938" y="4161790"/>
                  </a:lnTo>
                  <a:cubicBezTo>
                    <a:pt x="10679938" y="4249420"/>
                    <a:pt x="10608691" y="4320540"/>
                    <a:pt x="10520935" y="4320540"/>
                  </a:cubicBezTo>
                  <a:lnTo>
                    <a:pt x="159004" y="4320540"/>
                  </a:lnTo>
                  <a:cubicBezTo>
                    <a:pt x="71247" y="4320540"/>
                    <a:pt x="0" y="4249547"/>
                    <a:pt x="0" y="4161790"/>
                  </a:cubicBezTo>
                  <a:close/>
                </a:path>
              </a:pathLst>
            </a:custGeom>
            <a:solidFill>
              <a:srgbClr val="D2D9F9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92638" cy="4333240"/>
            </a:xfrm>
            <a:custGeom>
              <a:avLst/>
              <a:gdLst/>
              <a:ahLst/>
              <a:cxnLst/>
              <a:rect r="r" b="b" t="t" l="l"/>
              <a:pathLst>
                <a:path h="4333240" w="10692638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0527285" y="0"/>
                  </a:lnTo>
                  <a:lnTo>
                    <a:pt x="10527285" y="6350"/>
                  </a:lnTo>
                  <a:lnTo>
                    <a:pt x="10527285" y="0"/>
                  </a:lnTo>
                  <a:cubicBezTo>
                    <a:pt x="10618598" y="0"/>
                    <a:pt x="10692638" y="73914"/>
                    <a:pt x="10692638" y="165100"/>
                  </a:cubicBezTo>
                  <a:lnTo>
                    <a:pt x="10686288" y="165100"/>
                  </a:lnTo>
                  <a:lnTo>
                    <a:pt x="10692638" y="165100"/>
                  </a:lnTo>
                  <a:lnTo>
                    <a:pt x="10692638" y="4168140"/>
                  </a:lnTo>
                  <a:lnTo>
                    <a:pt x="10686288" y="4168140"/>
                  </a:lnTo>
                  <a:lnTo>
                    <a:pt x="10692638" y="4168140"/>
                  </a:lnTo>
                  <a:cubicBezTo>
                    <a:pt x="10692638" y="4259326"/>
                    <a:pt x="10618598" y="4333240"/>
                    <a:pt x="10527285" y="4333240"/>
                  </a:cubicBezTo>
                  <a:lnTo>
                    <a:pt x="10527285" y="4326890"/>
                  </a:lnTo>
                  <a:lnTo>
                    <a:pt x="10527285" y="4333240"/>
                  </a:lnTo>
                  <a:lnTo>
                    <a:pt x="165354" y="4333240"/>
                  </a:lnTo>
                  <a:lnTo>
                    <a:pt x="165354" y="4326890"/>
                  </a:lnTo>
                  <a:lnTo>
                    <a:pt x="165354" y="4333240"/>
                  </a:lnTo>
                  <a:cubicBezTo>
                    <a:pt x="74041" y="4333240"/>
                    <a:pt x="0" y="4259326"/>
                    <a:pt x="0" y="416814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168140"/>
                  </a:lnTo>
                  <a:lnTo>
                    <a:pt x="6350" y="4168140"/>
                  </a:lnTo>
                  <a:lnTo>
                    <a:pt x="12700" y="4168140"/>
                  </a:lnTo>
                  <a:cubicBezTo>
                    <a:pt x="12700" y="4252341"/>
                    <a:pt x="81026" y="4320540"/>
                    <a:pt x="165354" y="4320540"/>
                  </a:cubicBezTo>
                  <a:lnTo>
                    <a:pt x="10527285" y="4320540"/>
                  </a:lnTo>
                  <a:cubicBezTo>
                    <a:pt x="10611612" y="4320540"/>
                    <a:pt x="10679938" y="4252341"/>
                    <a:pt x="10679938" y="4168140"/>
                  </a:cubicBezTo>
                  <a:lnTo>
                    <a:pt x="10679938" y="165100"/>
                  </a:lnTo>
                  <a:cubicBezTo>
                    <a:pt x="10679938" y="80899"/>
                    <a:pt x="10611612" y="12700"/>
                    <a:pt x="10527285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8BFD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578731" y="6304807"/>
            <a:ext cx="850554" cy="850554"/>
            <a:chOff x="0" y="0"/>
            <a:chExt cx="1134072" cy="113407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4967E9"/>
            </a:solidFill>
          </p:spPr>
        </p:sp>
      </p:grpSp>
      <p:sp>
        <p:nvSpPr>
          <p:cNvPr name="Freeform 36" id="36" descr="preencoded.png"/>
          <p:cNvSpPr/>
          <p:nvPr/>
        </p:nvSpPr>
        <p:spPr>
          <a:xfrm flipH="false" flipV="false" rot="0">
            <a:off x="9812684" y="6538617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9578731" y="7429348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Disaster Recovery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578731" y="7947127"/>
            <a:ext cx="7423995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Encrypted backup storage isolated in the Data Tier.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596597" y="150194"/>
            <a:ext cx="6896313" cy="10344340"/>
            <a:chOff x="0" y="0"/>
            <a:chExt cx="5764416" cy="86465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64403" cy="8646541"/>
            </a:xfrm>
            <a:custGeom>
              <a:avLst/>
              <a:gdLst/>
              <a:ahLst/>
              <a:cxnLst/>
              <a:rect r="r" b="b" t="t" l="l"/>
              <a:pathLst>
                <a:path h="8646541" w="5764403">
                  <a:moveTo>
                    <a:pt x="0" y="0"/>
                  </a:moveTo>
                  <a:lnTo>
                    <a:pt x="5764403" y="0"/>
                  </a:lnTo>
                  <a:lnTo>
                    <a:pt x="5764403" y="8646541"/>
                  </a:lnTo>
                  <a:lnTo>
                    <a:pt x="0" y="86465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954" t="0" r="-4954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81858" y="2467332"/>
            <a:ext cx="8826332" cy="6790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6872" indent="-188436" lvl="1">
              <a:lnSpc>
                <a:spcPts val="3827"/>
              </a:lnSpc>
              <a:buFont typeface="Arial"/>
              <a:buChar char="•"/>
            </a:pPr>
            <a:r>
              <a:rPr lang="en-US" b="true" sz="2499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Layered Security &amp; Risk Reduction:</a:t>
            </a:r>
            <a:r>
              <a:rPr lang="en-US" sz="2499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 Multiple security controls (DDoS protection, firewalls, IPS, WAF) enforce defense-in-depth and significantly reduce exposure to external and internal threats.</a:t>
            </a:r>
          </a:p>
          <a:p>
            <a:pPr algn="l">
              <a:lnSpc>
                <a:spcPts val="3828"/>
              </a:lnSpc>
            </a:pPr>
          </a:p>
          <a:p>
            <a:pPr algn="l" marL="376872" indent="-188436" lvl="1">
              <a:lnSpc>
                <a:spcPts val="3827"/>
              </a:lnSpc>
              <a:buFont typeface="Arial"/>
              <a:buChar char="•"/>
            </a:pPr>
            <a:r>
              <a:rPr lang="en-US" b="true" sz="2499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Strong Segmentation &amp; Data Protection:</a:t>
            </a:r>
            <a:r>
              <a:rPr lang="en-US" sz="2499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 Clear separation between DMZ, application, data, corporate, management, and guest networks limits attack spread and protects sensitive business data.</a:t>
            </a:r>
          </a:p>
          <a:p>
            <a:pPr algn="l">
              <a:lnSpc>
                <a:spcPts val="3828"/>
              </a:lnSpc>
            </a:pPr>
          </a:p>
          <a:p>
            <a:pPr algn="l" marL="377031" indent="-188515" lvl="1">
              <a:lnSpc>
                <a:spcPts val="3828"/>
              </a:lnSpc>
              <a:buFont typeface="Arial"/>
              <a:buChar char="•"/>
            </a:pPr>
            <a:r>
              <a:rPr lang="en-US" b="true" sz="2499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Resilient &amp; Scalable Design:</a:t>
            </a:r>
            <a:r>
              <a:rPr lang="en-US" sz="2499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 High-availability components, centralized monitoring, and isolated management access support operational continuity, compliance, and future growth.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03163" y="1009650"/>
            <a:ext cx="10018365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4"/>
              </a:lnSpc>
            </a:pPr>
            <a:r>
              <a:rPr lang="en-US" sz="5499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Network Security Architecture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4646034" y="8533719"/>
            <a:ext cx="1259348" cy="0"/>
          </a:xfrm>
          <a:prstGeom prst="line">
            <a:avLst/>
          </a:prstGeom>
          <a:ln cap="flat" w="19050">
            <a:solidFill>
              <a:srgbClr val="36347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4655559" y="8447994"/>
            <a:ext cx="1259348" cy="0"/>
          </a:xfrm>
          <a:prstGeom prst="line">
            <a:avLst/>
          </a:prstGeom>
          <a:ln cap="flat" w="19050">
            <a:solidFill>
              <a:srgbClr val="365E9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3994623" y="2525405"/>
            <a:ext cx="1120821" cy="236119"/>
            <a:chOff x="0" y="0"/>
            <a:chExt cx="1494428" cy="314826"/>
          </a:xfrm>
        </p:grpSpPr>
        <p:sp>
          <p:nvSpPr>
            <p:cNvPr name="AutoShape 13" id="13"/>
            <p:cNvSpPr/>
            <p:nvPr/>
          </p:nvSpPr>
          <p:spPr>
            <a:xfrm>
              <a:off x="0" y="157519"/>
              <a:ext cx="1479110" cy="0"/>
            </a:xfrm>
            <a:prstGeom prst="line">
              <a:avLst/>
            </a:prstGeom>
            <a:ln cap="flat" w="25400">
              <a:solidFill>
                <a:srgbClr val="365E9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 flipV="true">
              <a:off x="1476484" y="157519"/>
              <a:ext cx="5251" cy="156882"/>
            </a:xfrm>
            <a:prstGeom prst="line">
              <a:avLst/>
            </a:prstGeom>
            <a:ln cap="flat" w="25400">
              <a:solidFill>
                <a:srgbClr val="365E9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 flipV="true">
              <a:off x="13802" y="425"/>
              <a:ext cx="5251" cy="156882"/>
            </a:xfrm>
            <a:prstGeom prst="line">
              <a:avLst/>
            </a:prstGeom>
            <a:ln cap="flat" w="25400">
              <a:solidFill>
                <a:srgbClr val="365E97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62075" y="2556272"/>
            <a:ext cx="6612104" cy="1747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Monitoring &amp; The Command Center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677223"/>
            <a:ext cx="9445523" cy="2826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SIEM Integration:</a:t>
            </a: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 Centralized logging from all zones to correlate events (e.g., detecting brute force across multiple servers).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Privileged Access Management (PAM):</a:t>
            </a: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 MFA and session recording for all administrative actions.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04155"/>
                </a:solidFill>
                <a:latin typeface="Arimo Bold"/>
                <a:ea typeface="Arimo Bold"/>
                <a:cs typeface="Arimo Bold"/>
                <a:sym typeface="Arimo Bold"/>
              </a:rPr>
              <a:t>VLAN Segmentation:</a:t>
            </a: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 Logically separating office devices (Printers vs. Laptops) to prevent local pivoting.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947226" y="1802472"/>
            <a:ext cx="10393548" cy="1463117"/>
            <a:chOff x="0" y="0"/>
            <a:chExt cx="13858065" cy="195082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3858065" cy="1950823"/>
              <a:chOff x="0" y="0"/>
              <a:chExt cx="13858065" cy="19508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8230" y="2859"/>
                <a:ext cx="13841392" cy="1945089"/>
              </a:xfrm>
              <a:custGeom>
                <a:avLst/>
                <a:gdLst/>
                <a:ahLst/>
                <a:cxnLst/>
                <a:rect r="r" b="b" t="t" l="l"/>
                <a:pathLst>
                  <a:path h="1945089" w="13841392">
                    <a:moveTo>
                      <a:pt x="0" y="71468"/>
                    </a:moveTo>
                    <a:cubicBezTo>
                      <a:pt x="0" y="32018"/>
                      <a:pt x="92337" y="0"/>
                      <a:pt x="206072" y="0"/>
                    </a:cubicBezTo>
                    <a:lnTo>
                      <a:pt x="13635320" y="0"/>
                    </a:lnTo>
                    <a:cubicBezTo>
                      <a:pt x="13749219" y="0"/>
                      <a:pt x="13841391" y="32018"/>
                      <a:pt x="13841391" y="71468"/>
                    </a:cubicBezTo>
                    <a:lnTo>
                      <a:pt x="13841391" y="1873620"/>
                    </a:lnTo>
                    <a:cubicBezTo>
                      <a:pt x="13841391" y="1913070"/>
                      <a:pt x="13749054" y="1945088"/>
                      <a:pt x="13635320" y="1945088"/>
                    </a:cubicBezTo>
                    <a:lnTo>
                      <a:pt x="206072" y="1945088"/>
                    </a:lnTo>
                    <a:cubicBezTo>
                      <a:pt x="92337" y="1945088"/>
                      <a:pt x="0" y="1913128"/>
                      <a:pt x="0" y="1873620"/>
                    </a:cubicBezTo>
                    <a:close/>
                  </a:path>
                </a:pathLst>
              </a:custGeom>
              <a:solidFill>
                <a:srgbClr val="D2D9F9"/>
              </a:solidFill>
            </p:spPr>
          </p:sp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3857850" cy="1950806"/>
              </a:xfrm>
              <a:custGeom>
                <a:avLst/>
                <a:gdLst/>
                <a:ahLst/>
                <a:cxnLst/>
                <a:rect r="r" b="b" t="t" l="l"/>
                <a:pathLst>
                  <a:path h="1950806" w="13857850">
                    <a:moveTo>
                      <a:pt x="0" y="74327"/>
                    </a:moveTo>
                    <a:cubicBezTo>
                      <a:pt x="0" y="33276"/>
                      <a:pt x="95958" y="0"/>
                      <a:pt x="214302" y="0"/>
                    </a:cubicBezTo>
                    <a:lnTo>
                      <a:pt x="13643550" y="0"/>
                    </a:lnTo>
                    <a:lnTo>
                      <a:pt x="13643550" y="2859"/>
                    </a:lnTo>
                    <a:lnTo>
                      <a:pt x="13643550" y="0"/>
                    </a:lnTo>
                    <a:cubicBezTo>
                      <a:pt x="13761893" y="0"/>
                      <a:pt x="13857850" y="33276"/>
                      <a:pt x="13857850" y="74327"/>
                    </a:cubicBezTo>
                    <a:lnTo>
                      <a:pt x="13849621" y="74327"/>
                    </a:lnTo>
                    <a:lnTo>
                      <a:pt x="13857850" y="74327"/>
                    </a:lnTo>
                    <a:lnTo>
                      <a:pt x="13857850" y="1876479"/>
                    </a:lnTo>
                    <a:lnTo>
                      <a:pt x="13849621" y="1876479"/>
                    </a:lnTo>
                    <a:lnTo>
                      <a:pt x="13857850" y="1876479"/>
                    </a:lnTo>
                    <a:cubicBezTo>
                      <a:pt x="13857850" y="1917530"/>
                      <a:pt x="13761893" y="1950806"/>
                      <a:pt x="13643550" y="1950806"/>
                    </a:cubicBezTo>
                    <a:lnTo>
                      <a:pt x="13643550" y="1947947"/>
                    </a:lnTo>
                    <a:lnTo>
                      <a:pt x="13643550" y="1950806"/>
                    </a:lnTo>
                    <a:lnTo>
                      <a:pt x="214302" y="1950806"/>
                    </a:lnTo>
                    <a:lnTo>
                      <a:pt x="214302" y="1947947"/>
                    </a:lnTo>
                    <a:lnTo>
                      <a:pt x="214302" y="1950806"/>
                    </a:lnTo>
                    <a:cubicBezTo>
                      <a:pt x="95958" y="1950806"/>
                      <a:pt x="0" y="1917530"/>
                      <a:pt x="0" y="1876479"/>
                    </a:cubicBezTo>
                    <a:lnTo>
                      <a:pt x="0" y="74327"/>
                    </a:lnTo>
                    <a:lnTo>
                      <a:pt x="8230" y="74327"/>
                    </a:lnTo>
                    <a:lnTo>
                      <a:pt x="0" y="74327"/>
                    </a:lnTo>
                    <a:moveTo>
                      <a:pt x="16459" y="74327"/>
                    </a:moveTo>
                    <a:lnTo>
                      <a:pt x="16459" y="1876479"/>
                    </a:lnTo>
                    <a:lnTo>
                      <a:pt x="8230" y="1876479"/>
                    </a:lnTo>
                    <a:lnTo>
                      <a:pt x="16459" y="1876479"/>
                    </a:lnTo>
                    <a:cubicBezTo>
                      <a:pt x="16459" y="1914386"/>
                      <a:pt x="105011" y="1945089"/>
                      <a:pt x="214302" y="1945089"/>
                    </a:cubicBezTo>
                    <a:lnTo>
                      <a:pt x="13643550" y="1945089"/>
                    </a:lnTo>
                    <a:cubicBezTo>
                      <a:pt x="13752840" y="1945089"/>
                      <a:pt x="13841391" y="1914386"/>
                      <a:pt x="13841391" y="1876479"/>
                    </a:cubicBezTo>
                    <a:lnTo>
                      <a:pt x="13841391" y="74327"/>
                    </a:lnTo>
                    <a:cubicBezTo>
                      <a:pt x="13841391" y="36420"/>
                      <a:pt x="13752840" y="5717"/>
                      <a:pt x="13643550" y="5717"/>
                    </a:cubicBezTo>
                    <a:lnTo>
                      <a:pt x="214302" y="5717"/>
                    </a:lnTo>
                    <a:lnTo>
                      <a:pt x="214302" y="2859"/>
                    </a:lnTo>
                    <a:lnTo>
                      <a:pt x="214302" y="5717"/>
                    </a:lnTo>
                    <a:cubicBezTo>
                      <a:pt x="105011" y="5717"/>
                      <a:pt x="16459" y="36420"/>
                      <a:pt x="16459" y="74327"/>
                    </a:cubicBezTo>
                    <a:close/>
                  </a:path>
                </a:pathLst>
              </a:custGeom>
              <a:solidFill>
                <a:srgbClr val="B8BFDF"/>
              </a:solid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314021" y="356185"/>
              <a:ext cx="13230022" cy="12098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B1B27"/>
                  </a:solidFill>
                  <a:latin typeface="Corben"/>
                  <a:ea typeface="Corben"/>
                  <a:cs typeface="Corben"/>
                  <a:sym typeface="Corben"/>
                </a:rPr>
                <a:t>Conclusion &amp; Success Metrics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92238" y="3751364"/>
            <a:ext cx="7974511" cy="80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&lt; 15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17737" y="4898231"/>
            <a:ext cx="4723362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MTTD (Mean Time to Detect)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5416001"/>
            <a:ext cx="7974511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minutes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21108" y="3751364"/>
            <a:ext cx="7974654" cy="80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&lt; 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70394" y="4898231"/>
            <a:ext cx="5075930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MTTR (Mean Time to Respond)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21108" y="5416001"/>
            <a:ext cx="7974654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hour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8" y="6380559"/>
            <a:ext cx="4252912" cy="55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Final Goal: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2238" y="7251649"/>
            <a:ext cx="1630352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A scalable, compliance-ready architecture (PCI-DSS/GDPR) that protects the bank’s confidentiality, integrity, and availability.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9FF">
                <a:alpha val="72157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599805" y="2916879"/>
            <a:ext cx="70882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5562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Thank You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4151862"/>
            <a:ext cx="16303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 for your attention and engagement.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73188" y="5010150"/>
            <a:ext cx="8048034" cy="1124245"/>
            <a:chOff x="0" y="0"/>
            <a:chExt cx="10730713" cy="14989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25400"/>
              <a:ext cx="10679938" cy="1448181"/>
            </a:xfrm>
            <a:custGeom>
              <a:avLst/>
              <a:gdLst/>
              <a:ahLst/>
              <a:cxnLst/>
              <a:rect r="r" b="b" t="t" l="l"/>
              <a:pathLst>
                <a:path h="1448181" w="10679938">
                  <a:moveTo>
                    <a:pt x="0" y="158750"/>
                  </a:moveTo>
                  <a:cubicBezTo>
                    <a:pt x="0" y="71120"/>
                    <a:pt x="73279" y="0"/>
                    <a:pt x="163576" y="0"/>
                  </a:cubicBezTo>
                  <a:lnTo>
                    <a:pt x="10516362" y="0"/>
                  </a:lnTo>
                  <a:cubicBezTo>
                    <a:pt x="10606659" y="0"/>
                    <a:pt x="10679938" y="71120"/>
                    <a:pt x="10679938" y="158750"/>
                  </a:cubicBezTo>
                  <a:lnTo>
                    <a:pt x="10679938" y="1289431"/>
                  </a:lnTo>
                  <a:cubicBezTo>
                    <a:pt x="10679938" y="1377061"/>
                    <a:pt x="10606659" y="1448181"/>
                    <a:pt x="10516362" y="1448181"/>
                  </a:cubicBezTo>
                  <a:lnTo>
                    <a:pt x="163576" y="1448181"/>
                  </a:lnTo>
                  <a:cubicBezTo>
                    <a:pt x="73279" y="1448181"/>
                    <a:pt x="0" y="1377061"/>
                    <a:pt x="0" y="1289431"/>
                  </a:cubicBez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30738" cy="1498981"/>
            </a:xfrm>
            <a:custGeom>
              <a:avLst/>
              <a:gdLst/>
              <a:ahLst/>
              <a:cxnLst/>
              <a:rect r="r" b="b" t="t" l="l"/>
              <a:pathLst>
                <a:path h="1498981" w="10730738">
                  <a:moveTo>
                    <a:pt x="0" y="184150"/>
                  </a:moveTo>
                  <a:cubicBezTo>
                    <a:pt x="0" y="81788"/>
                    <a:pt x="85344" y="0"/>
                    <a:pt x="188976" y="0"/>
                  </a:cubicBezTo>
                  <a:lnTo>
                    <a:pt x="10541762" y="0"/>
                  </a:lnTo>
                  <a:lnTo>
                    <a:pt x="10541762" y="25400"/>
                  </a:lnTo>
                  <a:lnTo>
                    <a:pt x="10541762" y="0"/>
                  </a:lnTo>
                  <a:cubicBezTo>
                    <a:pt x="10645394" y="0"/>
                    <a:pt x="10730738" y="81788"/>
                    <a:pt x="10730738" y="184150"/>
                  </a:cubicBezTo>
                  <a:lnTo>
                    <a:pt x="10705338" y="184150"/>
                  </a:lnTo>
                  <a:lnTo>
                    <a:pt x="10730738" y="184150"/>
                  </a:lnTo>
                  <a:lnTo>
                    <a:pt x="10730738" y="1314831"/>
                  </a:lnTo>
                  <a:lnTo>
                    <a:pt x="10705338" y="1314831"/>
                  </a:lnTo>
                  <a:lnTo>
                    <a:pt x="10730738" y="1314831"/>
                  </a:lnTo>
                  <a:cubicBezTo>
                    <a:pt x="10730738" y="1417320"/>
                    <a:pt x="10645394" y="1498981"/>
                    <a:pt x="10541762" y="1498981"/>
                  </a:cubicBezTo>
                  <a:lnTo>
                    <a:pt x="10541762" y="1473581"/>
                  </a:lnTo>
                  <a:lnTo>
                    <a:pt x="10541762" y="1498981"/>
                  </a:lnTo>
                  <a:lnTo>
                    <a:pt x="188976" y="1498981"/>
                  </a:lnTo>
                  <a:lnTo>
                    <a:pt x="188976" y="1473581"/>
                  </a:lnTo>
                  <a:lnTo>
                    <a:pt x="188976" y="1498981"/>
                  </a:lnTo>
                  <a:cubicBezTo>
                    <a:pt x="85344" y="1498981"/>
                    <a:pt x="0" y="1417193"/>
                    <a:pt x="0" y="1314831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1314831"/>
                  </a:lnTo>
                  <a:lnTo>
                    <a:pt x="25400" y="1314831"/>
                  </a:lnTo>
                  <a:lnTo>
                    <a:pt x="50800" y="1314831"/>
                  </a:lnTo>
                  <a:cubicBezTo>
                    <a:pt x="50800" y="1387729"/>
                    <a:pt x="111887" y="1448181"/>
                    <a:pt x="188976" y="1448181"/>
                  </a:cubicBezTo>
                  <a:lnTo>
                    <a:pt x="10541762" y="1448181"/>
                  </a:lnTo>
                  <a:cubicBezTo>
                    <a:pt x="10618851" y="1448181"/>
                    <a:pt x="10679938" y="1387729"/>
                    <a:pt x="10679938" y="1314831"/>
                  </a:cubicBezTo>
                  <a:lnTo>
                    <a:pt x="10679938" y="184150"/>
                  </a:lnTo>
                  <a:cubicBezTo>
                    <a:pt x="10679938" y="111252"/>
                    <a:pt x="10618851" y="50800"/>
                    <a:pt x="10541762" y="50800"/>
                  </a:cubicBezTo>
                  <a:lnTo>
                    <a:pt x="188976" y="50800"/>
                  </a:lnTo>
                  <a:lnTo>
                    <a:pt x="188976" y="25400"/>
                  </a:lnTo>
                  <a:lnTo>
                    <a:pt x="188976" y="50800"/>
                  </a:lnTo>
                  <a:cubicBezTo>
                    <a:pt x="111887" y="50800"/>
                    <a:pt x="50800" y="111252"/>
                    <a:pt x="50800" y="184150"/>
                  </a:cubicBezTo>
                  <a:close/>
                </a:path>
              </a:pathLst>
            </a:custGeom>
            <a:solidFill>
              <a:srgbClr val="B8BFD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3207839" y="5341296"/>
            <a:ext cx="357872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Questions &amp; Answers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266634" y="5010150"/>
            <a:ext cx="8048177" cy="1124245"/>
            <a:chOff x="0" y="0"/>
            <a:chExt cx="10730903" cy="14989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5400" y="25400"/>
              <a:ext cx="10680065" cy="1448181"/>
            </a:xfrm>
            <a:custGeom>
              <a:avLst/>
              <a:gdLst/>
              <a:ahLst/>
              <a:cxnLst/>
              <a:rect r="r" b="b" t="t" l="l"/>
              <a:pathLst>
                <a:path h="1448181" w="10680065">
                  <a:moveTo>
                    <a:pt x="0" y="158750"/>
                  </a:moveTo>
                  <a:cubicBezTo>
                    <a:pt x="0" y="71120"/>
                    <a:pt x="73279" y="0"/>
                    <a:pt x="163576" y="0"/>
                  </a:cubicBezTo>
                  <a:lnTo>
                    <a:pt x="10516489" y="0"/>
                  </a:lnTo>
                  <a:cubicBezTo>
                    <a:pt x="10606786" y="0"/>
                    <a:pt x="10680065" y="71120"/>
                    <a:pt x="10680065" y="158750"/>
                  </a:cubicBezTo>
                  <a:lnTo>
                    <a:pt x="10680065" y="1289431"/>
                  </a:lnTo>
                  <a:cubicBezTo>
                    <a:pt x="10680065" y="1377061"/>
                    <a:pt x="10606786" y="1448181"/>
                    <a:pt x="10516489" y="1448181"/>
                  </a:cubicBezTo>
                  <a:lnTo>
                    <a:pt x="163576" y="1448181"/>
                  </a:lnTo>
                  <a:cubicBezTo>
                    <a:pt x="73279" y="1448181"/>
                    <a:pt x="0" y="1377061"/>
                    <a:pt x="0" y="1289431"/>
                  </a:cubicBezTo>
                  <a:close/>
                </a:path>
              </a:pathLst>
            </a:custGeom>
            <a:solidFill>
              <a:srgbClr val="F9F9FF">
                <a:alpha val="90196"/>
              </a:srgbClr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30865" cy="1498981"/>
            </a:xfrm>
            <a:custGeom>
              <a:avLst/>
              <a:gdLst/>
              <a:ahLst/>
              <a:cxnLst/>
              <a:rect r="r" b="b" t="t" l="l"/>
              <a:pathLst>
                <a:path h="1498981" w="10730865">
                  <a:moveTo>
                    <a:pt x="0" y="184150"/>
                  </a:moveTo>
                  <a:cubicBezTo>
                    <a:pt x="0" y="81788"/>
                    <a:pt x="85344" y="0"/>
                    <a:pt x="188976" y="0"/>
                  </a:cubicBezTo>
                  <a:lnTo>
                    <a:pt x="10541889" y="0"/>
                  </a:lnTo>
                  <a:lnTo>
                    <a:pt x="10541889" y="25400"/>
                  </a:lnTo>
                  <a:lnTo>
                    <a:pt x="10541889" y="0"/>
                  </a:lnTo>
                  <a:cubicBezTo>
                    <a:pt x="10645521" y="0"/>
                    <a:pt x="10730865" y="81788"/>
                    <a:pt x="10730865" y="184150"/>
                  </a:cubicBezTo>
                  <a:lnTo>
                    <a:pt x="10705465" y="184150"/>
                  </a:lnTo>
                  <a:lnTo>
                    <a:pt x="10730865" y="184150"/>
                  </a:lnTo>
                  <a:lnTo>
                    <a:pt x="10730865" y="1314831"/>
                  </a:lnTo>
                  <a:lnTo>
                    <a:pt x="10705465" y="1314831"/>
                  </a:lnTo>
                  <a:lnTo>
                    <a:pt x="10730865" y="1314831"/>
                  </a:lnTo>
                  <a:cubicBezTo>
                    <a:pt x="10730865" y="1417320"/>
                    <a:pt x="10645521" y="1498981"/>
                    <a:pt x="10541889" y="1498981"/>
                  </a:cubicBezTo>
                  <a:lnTo>
                    <a:pt x="10541889" y="1473581"/>
                  </a:lnTo>
                  <a:lnTo>
                    <a:pt x="10541889" y="1498981"/>
                  </a:lnTo>
                  <a:lnTo>
                    <a:pt x="188976" y="1498981"/>
                  </a:lnTo>
                  <a:lnTo>
                    <a:pt x="188976" y="1473581"/>
                  </a:lnTo>
                  <a:lnTo>
                    <a:pt x="188976" y="1498981"/>
                  </a:lnTo>
                  <a:cubicBezTo>
                    <a:pt x="85344" y="1498981"/>
                    <a:pt x="0" y="1417193"/>
                    <a:pt x="0" y="1314831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1314831"/>
                  </a:lnTo>
                  <a:lnTo>
                    <a:pt x="25400" y="1314831"/>
                  </a:lnTo>
                  <a:lnTo>
                    <a:pt x="50800" y="1314831"/>
                  </a:lnTo>
                  <a:cubicBezTo>
                    <a:pt x="50800" y="1387729"/>
                    <a:pt x="111887" y="1448181"/>
                    <a:pt x="188976" y="1448181"/>
                  </a:cubicBezTo>
                  <a:lnTo>
                    <a:pt x="10541889" y="1448181"/>
                  </a:lnTo>
                  <a:cubicBezTo>
                    <a:pt x="10618978" y="1448181"/>
                    <a:pt x="10680065" y="1387729"/>
                    <a:pt x="10680065" y="1314831"/>
                  </a:cubicBezTo>
                  <a:lnTo>
                    <a:pt x="10680065" y="184150"/>
                  </a:lnTo>
                  <a:cubicBezTo>
                    <a:pt x="10680065" y="111252"/>
                    <a:pt x="10618978" y="50800"/>
                    <a:pt x="10541889" y="50800"/>
                  </a:cubicBezTo>
                  <a:lnTo>
                    <a:pt x="188976" y="50800"/>
                  </a:lnTo>
                  <a:lnTo>
                    <a:pt x="188976" y="25400"/>
                  </a:lnTo>
                  <a:lnTo>
                    <a:pt x="188976" y="50800"/>
                  </a:lnTo>
                  <a:cubicBezTo>
                    <a:pt x="111887" y="50800"/>
                    <a:pt x="50800" y="111252"/>
                    <a:pt x="50800" y="184150"/>
                  </a:cubicBezTo>
                  <a:close/>
                </a:path>
              </a:pathLst>
            </a:custGeom>
            <a:solidFill>
              <a:srgbClr val="B8BFD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373298" y="5341296"/>
            <a:ext cx="3834708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Comments &amp; Feedback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6329515"/>
            <a:ext cx="1630352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04155"/>
                </a:solidFill>
                <a:latin typeface="Arimo"/>
                <a:ea typeface="Arimo"/>
                <a:cs typeface="Arimo"/>
                <a:sym typeface="Arimo"/>
              </a:rPr>
              <a:t>I appreciate you and look forward to your questions and feedback as we continue to strengthen our network security posture.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747241" y="521970"/>
            <a:ext cx="1988339" cy="357901"/>
          </a:xfrm>
          <a:custGeom>
            <a:avLst/>
            <a:gdLst/>
            <a:ahLst/>
            <a:cxnLst/>
            <a:rect r="r" b="b" t="t" l="l"/>
            <a:pathLst>
              <a:path h="357901" w="1988339">
                <a:moveTo>
                  <a:pt x="0" y="0"/>
                </a:moveTo>
                <a:lnTo>
                  <a:pt x="1988339" y="0"/>
                </a:lnTo>
                <a:lnTo>
                  <a:pt x="1988339" y="357901"/>
                </a:lnTo>
                <a:lnTo>
                  <a:pt x="0" y="3579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915496" y="521970"/>
            <a:ext cx="1238724" cy="637777"/>
          </a:xfrm>
          <a:custGeom>
            <a:avLst/>
            <a:gdLst/>
            <a:ahLst/>
            <a:cxnLst/>
            <a:rect r="r" b="b" t="t" l="l"/>
            <a:pathLst>
              <a:path h="637777" w="1238724">
                <a:moveTo>
                  <a:pt x="0" y="0"/>
                </a:moveTo>
                <a:lnTo>
                  <a:pt x="1238724" y="0"/>
                </a:lnTo>
                <a:lnTo>
                  <a:pt x="1238724" y="637777"/>
                </a:lnTo>
                <a:lnTo>
                  <a:pt x="0" y="6377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DAHBCoK2qDA</dc:identifier>
  <dcterms:modified xsi:type="dcterms:W3CDTF">2011-08-01T06:04:30Z</dcterms:modified>
  <cp:revision>1</cp:revision>
  <dc:title>Capstone_Project_Jeremiah</dc:title>
</cp:coreProperties>
</file>